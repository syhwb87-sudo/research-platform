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847088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2A78D6"/>
          </a:solidFill>
          <a:ln/>
        </p:spPr>
      </p:sp>
      <p:sp>
        <p:nvSpPr>
          <p:cNvPr id="3" name="Shape 1"/>
          <p:cNvSpPr/>
          <p:nvPr/>
        </p:nvSpPr>
        <p:spPr>
          <a:xfrm>
            <a:off x="1188720" y="1847088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EDA100"/>
          </a:solidFill>
          <a:ln/>
        </p:spPr>
      </p:sp>
      <p:sp>
        <p:nvSpPr>
          <p:cNvPr id="4" name="Shape 2"/>
          <p:cNvSpPr/>
          <p:nvPr/>
        </p:nvSpPr>
        <p:spPr>
          <a:xfrm>
            <a:off x="1554480" y="1847088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EB6834"/>
          </a:solidFill>
          <a:ln/>
        </p:spPr>
      </p:sp>
      <p:sp>
        <p:nvSpPr>
          <p:cNvPr id="5" name="Shape 3"/>
          <p:cNvSpPr/>
          <p:nvPr/>
        </p:nvSpPr>
        <p:spPr>
          <a:xfrm>
            <a:off x="1920240" y="1847088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1BAF7A"/>
          </a:solidFill>
          <a:ln/>
        </p:spPr>
      </p:sp>
      <p:sp>
        <p:nvSpPr>
          <p:cNvPr id="6" name="Shape 4"/>
          <p:cNvSpPr/>
          <p:nvPr/>
        </p:nvSpPr>
        <p:spPr>
          <a:xfrm>
            <a:off x="2286000" y="1847088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E87BA4"/>
          </a:solidFill>
          <a:ln/>
        </p:spPr>
      </p:sp>
      <p:sp>
        <p:nvSpPr>
          <p:cNvPr id="7" name="Shape 5"/>
          <p:cNvSpPr/>
          <p:nvPr/>
        </p:nvSpPr>
        <p:spPr>
          <a:xfrm>
            <a:off x="2651760" y="1847088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00830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21284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PRIDE 연구활동 종합관리 Dashboard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200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연구과제 관리를 넘어, 연구활동 포트폴리오 관리로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설계·Demo 시연 자료  ·  2026. 08.  ·  기술연구원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794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3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 연구활동군 통합 대시보드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다시 설계하는가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4124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제도 개편 — 다양한 연구활동을 동일 체계 안에서 통합 관리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03784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106070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DA100"/>
          </a:solidFill>
          <a:ln/>
        </p:spPr>
      </p:sp>
      <p:sp>
        <p:nvSpPr>
          <p:cNvPr id="6" name="Shape 4"/>
          <p:cNvSpPr/>
          <p:nvPr/>
        </p:nvSpPr>
        <p:spPr>
          <a:xfrm>
            <a:off x="108356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B6834"/>
          </a:solidFill>
          <a:ln/>
        </p:spPr>
      </p:sp>
      <p:sp>
        <p:nvSpPr>
          <p:cNvPr id="7" name="Shape 5"/>
          <p:cNvSpPr/>
          <p:nvPr/>
        </p:nvSpPr>
        <p:spPr>
          <a:xfrm>
            <a:off x="110642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1BAF7A"/>
          </a:solidFill>
          <a:ln/>
        </p:spPr>
      </p:sp>
      <p:sp>
        <p:nvSpPr>
          <p:cNvPr id="8" name="Shape 6"/>
          <p:cNvSpPr/>
          <p:nvPr/>
        </p:nvSpPr>
        <p:spPr>
          <a:xfrm>
            <a:off x="112928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87BA4"/>
          </a:solidFill>
          <a:ln/>
        </p:spPr>
      </p:sp>
      <p:sp>
        <p:nvSpPr>
          <p:cNvPr id="9" name="Shape 7"/>
          <p:cNvSpPr/>
          <p:nvPr/>
        </p:nvSpPr>
        <p:spPr>
          <a:xfrm>
            <a:off x="115214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0083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65860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3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14630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93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</a:t>
            </a:r>
            <a:pPr indent="0" marL="0">
              <a:buNone/>
            </a:pPr>
            <a:r>
              <a:rPr lang="en-US" sz="1500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대부분의 활동을 “연구과제” 하나의 틀로 관리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4DA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개편</a:t>
            </a:r>
            <a:pPr indent="0" marL="0">
              <a:buNone/>
            </a:pPr>
            <a:r>
              <a:rPr lang="en-US" sz="1500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활동 특성별로 수행방식·관리수준을 차별화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2697480"/>
            <a:ext cx="4480560" cy="3017520"/>
          </a:xfrm>
          <a:prstGeom prst="roundRect">
            <a:avLst>
              <a:gd name="adj" fmla="val 2424"/>
            </a:avLst>
          </a:prstGeom>
          <a:solidFill>
            <a:srgbClr val="F0F5F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29260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4DA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Dashboard가 답해야 할 것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3310128"/>
            <a:ext cx="3886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활동이 6개 군에 어떻게 분포되어 있는가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Man Week는 어디에 투입되는가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전략과 현업지원은 균형적인가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탐색·혁신은 충분한가, 지식자산은 느는가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종료 후 실제 사업성과가 발생하는가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577840" y="1508760"/>
            <a:ext cx="2971800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B8C0CC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779008" y="1728216"/>
            <a:ext cx="274320" cy="274320"/>
          </a:xfrm>
          <a:prstGeom prst="roundRect">
            <a:avLst>
              <a:gd name="adj" fmla="val 23333"/>
            </a:avLst>
          </a:prstGeom>
          <a:solidFill>
            <a:srgbClr val="2A78D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163056" y="167335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전략 프로젝트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5797296" y="216712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a3 연구과제 + a2 MW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732520" y="1508760"/>
            <a:ext cx="2971800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B8C0CC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933688" y="1728216"/>
            <a:ext cx="274320" cy="274320"/>
          </a:xfrm>
          <a:prstGeom prst="roundRect">
            <a:avLst>
              <a:gd name="adj" fmla="val 23333"/>
            </a:avLst>
          </a:prstGeom>
          <a:solidFill>
            <a:srgbClr val="EDA10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317736" y="167335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장기 성과관리·확산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8951976" y="216712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a1 완료평가 + 1~5년차 활용평가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577840" y="2990088"/>
            <a:ext cx="2971800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B8C0CC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779008" y="3209544"/>
            <a:ext cx="274320" cy="274320"/>
          </a:xfrm>
          <a:prstGeom prst="roundRect">
            <a:avLst>
              <a:gd name="adj" fmla="val 23333"/>
            </a:avLst>
          </a:prstGeom>
          <a:solidFill>
            <a:srgbClr val="EB68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163056" y="315468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현업·고객 문제해결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5797296" y="3648456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a3(W코드) + a4 현업지원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732520" y="2990088"/>
            <a:ext cx="2971800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B8C0CC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933688" y="3209544"/>
            <a:ext cx="274320" cy="274320"/>
          </a:xfrm>
          <a:prstGeom prst="roundRect">
            <a:avLst>
              <a:gd name="adj" fmla="val 23333"/>
            </a:avLst>
          </a:prstGeom>
          <a:solidFill>
            <a:srgbClr val="1BAF7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317736" y="315468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탐색·혁신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8951976" y="3648456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a3(N코드) + a2 MW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577840" y="4471416"/>
            <a:ext cx="2971800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B8C0CC">
                <a:alpha val="3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5779008" y="4690872"/>
            <a:ext cx="274320" cy="274320"/>
          </a:xfrm>
          <a:prstGeom prst="roundRect">
            <a:avLst>
              <a:gd name="adj" fmla="val 23333"/>
            </a:avLst>
          </a:prstGeom>
          <a:solidFill>
            <a:srgbClr val="E87BA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163056" y="463600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지식자산·전문활동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5797296" y="5129784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a5 논문·발표·학회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732520" y="4471416"/>
            <a:ext cx="2971800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B8C0CC">
                <a:alpha val="3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8933688" y="4690872"/>
            <a:ext cx="274320" cy="274320"/>
          </a:xfrm>
          <a:prstGeom prst="roundRect">
            <a:avLst>
              <a:gd name="adj" fmla="val 23333"/>
            </a:avLst>
          </a:prstGeom>
          <a:solidFill>
            <a:srgbClr val="00830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317736" y="463600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조직 성과·역량 강화</a:t>
            </a:r>
            <a:endParaRPr lang="en-US" sz="1350" dirty="0"/>
          </a:p>
        </p:txBody>
      </p:sp>
      <p:sp>
        <p:nvSpPr>
          <p:cNvPr id="39" name="Text 37"/>
          <p:cNvSpPr txBox="1"/>
          <p:nvPr/>
        </p:nvSpPr>
        <p:spPr>
          <a:xfrm>
            <a:off x="8951976" y="5129784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a6 기술홍보·교육·조직기여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만들었나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4124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설계서 · 동작하는 Demo · 실운영 전환 가능한 데이터 모델 — PR #1로 제출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03784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106070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DA100"/>
          </a:solidFill>
          <a:ln/>
        </p:spPr>
      </p:sp>
      <p:sp>
        <p:nvSpPr>
          <p:cNvPr id="6" name="Shape 4"/>
          <p:cNvSpPr/>
          <p:nvPr/>
        </p:nvSpPr>
        <p:spPr>
          <a:xfrm>
            <a:off x="108356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B6834"/>
          </a:solidFill>
          <a:ln/>
        </p:spPr>
      </p:sp>
      <p:sp>
        <p:nvSpPr>
          <p:cNvPr id="7" name="Shape 5"/>
          <p:cNvSpPr/>
          <p:nvPr/>
        </p:nvSpPr>
        <p:spPr>
          <a:xfrm>
            <a:off x="110642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1BAF7A"/>
          </a:solidFill>
          <a:ln/>
        </p:spPr>
      </p:sp>
      <p:sp>
        <p:nvSpPr>
          <p:cNvPr id="8" name="Shape 6"/>
          <p:cNvSpPr/>
          <p:nvPr/>
        </p:nvSpPr>
        <p:spPr>
          <a:xfrm>
            <a:off x="112928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87BA4"/>
          </a:solidFill>
          <a:ln/>
        </p:spPr>
      </p:sp>
      <p:sp>
        <p:nvSpPr>
          <p:cNvPr id="9" name="Shape 7"/>
          <p:cNvSpPr/>
          <p:nvPr/>
        </p:nvSpPr>
        <p:spPr>
          <a:xfrm>
            <a:off x="115214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0083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65860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3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1600200"/>
            <a:ext cx="3566160" cy="39776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25400" dir="5400000">
              <a:srgbClr val="B8C0CC">
                <a:alpha val="3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22960" y="18745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4DA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설계서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2423160"/>
            <a:ext cx="3063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브레인스토밍 아이디어 34선 (4개 관점)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IA·첫 화면 Wireframe·KPI 22종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장기성과 위젯 16종 심화 설계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Frontend Design Guide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343400" y="1600200"/>
            <a:ext cx="3566160" cy="39776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25400" dir="5400000">
              <a:srgbClr val="B8C0CC">
                <a:alpha val="3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617720" y="18745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Demo 대시보드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4617720" y="2423160"/>
            <a:ext cx="3063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탭 7종: 홈 / My / 활동군 상세(6종) /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MW / 성과 플랫폼 / Executive / 시뮬레이터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CSV 6종 → ETL → 정적 대시보드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백엔드 없이 브라우저만으로 시연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차트 25종 · 검증 통과 팔레트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138160" y="1600200"/>
            <a:ext cx="3566160" cy="39776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25400" dir="5400000">
              <a:srgbClr val="B8C0CC">
                <a:alpha val="3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412480" y="18745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A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Demo DB (Star Schema)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0" y="2423160"/>
            <a:ext cx="3063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Fact 7 × Dimension 6 설계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활동군·조직·기간 공통 축 통합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실운영 전환 시 활용평가 Fact만 교체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재현 가능 ETL (시드 고정)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8978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github.com/syhwb87-sudo/Research-Platform — docs/PRIDE_Dashboard_Design.md · demo/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철학 — Portfolio Command Center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4124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“연구를 얼마나 했는가”가 아니라 “연구가 회사를 얼마나 바꿨는가”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03784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106070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DA100"/>
          </a:solidFill>
          <a:ln/>
        </p:spPr>
      </p:sp>
      <p:sp>
        <p:nvSpPr>
          <p:cNvPr id="6" name="Shape 4"/>
          <p:cNvSpPr/>
          <p:nvPr/>
        </p:nvSpPr>
        <p:spPr>
          <a:xfrm>
            <a:off x="108356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B6834"/>
          </a:solidFill>
          <a:ln/>
        </p:spPr>
      </p:sp>
      <p:sp>
        <p:nvSpPr>
          <p:cNvPr id="7" name="Shape 5"/>
          <p:cNvSpPr/>
          <p:nvPr/>
        </p:nvSpPr>
        <p:spPr>
          <a:xfrm>
            <a:off x="110642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1BAF7A"/>
          </a:solidFill>
          <a:ln/>
        </p:spPr>
      </p:sp>
      <p:sp>
        <p:nvSpPr>
          <p:cNvPr id="8" name="Shape 6"/>
          <p:cNvSpPr/>
          <p:nvPr/>
        </p:nvSpPr>
        <p:spPr>
          <a:xfrm>
            <a:off x="112928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87BA4"/>
          </a:solidFill>
          <a:ln/>
        </p:spPr>
      </p:sp>
      <p:sp>
        <p:nvSpPr>
          <p:cNvPr id="9" name="Shape 7"/>
          <p:cNvSpPr/>
          <p:nvPr/>
        </p:nvSpPr>
        <p:spPr>
          <a:xfrm>
            <a:off x="115214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0083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65860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3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2103120"/>
            <a:ext cx="2084832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9050">
            <a:solidFill>
              <a:srgbClr val="5B647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2286000"/>
            <a:ext cx="18105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연구비 · MW 투입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2880360"/>
            <a:ext cx="1810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 활동군으로 배분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633472" y="269748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852928" y="2103120"/>
            <a:ext cx="2084832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905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990088" y="2286000"/>
            <a:ext cx="18105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78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 포트폴리오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990088" y="2880360"/>
            <a:ext cx="1810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분포·균형을 목표 대비 상시 진단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937760" y="269748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157216" y="2103120"/>
            <a:ext cx="2084832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9050">
            <a:solidFill>
              <a:srgbClr val="EDA1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94376" y="2286000"/>
            <a:ext cx="18105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A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산출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94376" y="2880360"/>
            <a:ext cx="1810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완료평가로 기대성과 확정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242048" y="269748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461504" y="2103120"/>
            <a:ext cx="2084832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9050">
            <a:solidFill>
              <a:srgbClr val="EB683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598664" y="2286000"/>
            <a:ext cx="18105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1~5년차 활용평가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598664" y="2880360"/>
            <a:ext cx="1810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활용상태·실현이익 사후추적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9546336" y="269748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765792" y="2103120"/>
            <a:ext cx="2084832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9050">
            <a:solidFill>
              <a:srgbClr val="1BAF7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902952" y="2286000"/>
            <a:ext cx="18105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A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실현이익 · Achievement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902952" y="2880360"/>
            <a:ext cx="1810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약속 대비 실현을 %로 증명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4343400"/>
            <a:ext cx="3566160" cy="1417320"/>
          </a:xfrm>
          <a:prstGeom prst="roundRect">
            <a:avLst>
              <a:gd name="adj" fmla="val 5161"/>
            </a:avLst>
          </a:prstGeom>
          <a:solidFill>
            <a:srgbClr val="F0F5FC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04672" y="45262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4DA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종합현황</a:t>
            </a:r>
            <a:endParaRPr lang="en-US" sz="1450" dirty="0"/>
          </a:p>
        </p:txBody>
      </p:sp>
      <p:sp>
        <p:nvSpPr>
          <p:cNvPr id="32" name="Text 30"/>
          <p:cNvSpPr txBox="1"/>
          <p:nvPr/>
        </p:nvSpPr>
        <p:spPr>
          <a:xfrm>
            <a:off x="804672" y="491947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구성원의 매일 첫 화면 — 분포·균형·성과를 한눈에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343400" y="4343400"/>
            <a:ext cx="3566160" cy="1417320"/>
          </a:xfrm>
          <a:prstGeom prst="roundRect">
            <a:avLst>
              <a:gd name="adj" fmla="val 5161"/>
            </a:avLst>
          </a:prstGeom>
          <a:solidFill>
            <a:srgbClr val="F0F5FC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599432" y="45262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4DA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장기성과 대시보드</a:t>
            </a:r>
            <a:endParaRPr lang="en-US" sz="1450" dirty="0"/>
          </a:p>
        </p:txBody>
      </p:sp>
      <p:sp>
        <p:nvSpPr>
          <p:cNvPr id="35" name="Text 33"/>
          <p:cNvSpPr txBox="1"/>
          <p:nvPr/>
        </p:nvSpPr>
        <p:spPr>
          <a:xfrm>
            <a:off x="4599432" y="491947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vs 실현의 전체 사슬 — 경영 신뢰의 근거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138160" y="4343400"/>
            <a:ext cx="3566160" cy="1417320"/>
          </a:xfrm>
          <a:prstGeom prst="roundRect">
            <a:avLst>
              <a:gd name="adj" fmla="val 5161"/>
            </a:avLst>
          </a:prstGeom>
          <a:solidFill>
            <a:srgbClr val="F0F5FC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8394192" y="45262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4DA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Executive One-Page</a:t>
            </a:r>
            <a:endParaRPr lang="en-US" sz="1450" dirty="0"/>
          </a:p>
        </p:txBody>
      </p:sp>
      <p:sp>
        <p:nvSpPr>
          <p:cNvPr id="38" name="Text 36"/>
          <p:cNvSpPr txBox="1"/>
          <p:nvPr/>
        </p:nvSpPr>
        <p:spPr>
          <a:xfrm>
            <a:off x="8394192" y="491947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스크롤 없는 임원 브리핑 — 5분 내 전체 파악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Demo ① 홈 종합현황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4124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화면 — 6개 활동군의 분포·균형·성과를 한 화면에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03784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106070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DA100"/>
          </a:solidFill>
          <a:ln/>
        </p:spPr>
      </p:sp>
      <p:sp>
        <p:nvSpPr>
          <p:cNvPr id="6" name="Shape 4"/>
          <p:cNvSpPr/>
          <p:nvPr/>
        </p:nvSpPr>
        <p:spPr>
          <a:xfrm>
            <a:off x="108356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B6834"/>
          </a:solidFill>
          <a:ln/>
        </p:spPr>
      </p:sp>
      <p:sp>
        <p:nvSpPr>
          <p:cNvPr id="7" name="Shape 5"/>
          <p:cNvSpPr/>
          <p:nvPr/>
        </p:nvSpPr>
        <p:spPr>
          <a:xfrm>
            <a:off x="110642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1BAF7A"/>
          </a:solidFill>
          <a:ln/>
        </p:spPr>
      </p:sp>
      <p:sp>
        <p:nvSpPr>
          <p:cNvPr id="8" name="Shape 6"/>
          <p:cNvSpPr/>
          <p:nvPr/>
        </p:nvSpPr>
        <p:spPr>
          <a:xfrm>
            <a:off x="112928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87BA4"/>
          </a:solidFill>
          <a:ln/>
        </p:spPr>
      </p:sp>
      <p:sp>
        <p:nvSpPr>
          <p:cNvPr id="9" name="Shape 7"/>
          <p:cNvSpPr/>
          <p:nvPr/>
        </p:nvSpPr>
        <p:spPr>
          <a:xfrm>
            <a:off x="115214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0083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65860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3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00" dirty="0"/>
          </a:p>
        </p:txBody>
      </p:sp>
      <p:pic>
        <p:nvPicPr>
          <p:cNvPr id="11" name="Image 0" descr="/tmp/claude-0/-home-user-Research-Platform/ea077501-df68-5619-bdf5-5c6934277d94/scratchpad/deckshots/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1298448"/>
            <a:ext cx="7525512" cy="4233672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9AA4B2">
                <a:alpha val="35000"/>
              </a:srgbClr>
            </a:outerShdw>
          </a:effectLst>
        </p:spPr>
      </p:pic>
      <p:sp>
        <p:nvSpPr>
          <p:cNvPr id="12" name="Shape 9"/>
          <p:cNvSpPr/>
          <p:nvPr/>
        </p:nvSpPr>
        <p:spPr>
          <a:xfrm>
            <a:off x="548640" y="1389888"/>
            <a:ext cx="310896" cy="31089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48640" y="1389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987552" y="1344168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활동군 KPI 스트립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987552" y="164592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 군의 규모·상태·경고를 카드 6장으로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48640" y="2505456"/>
            <a:ext cx="310896" cy="310896"/>
          </a:xfrm>
          <a:prstGeom prst="ellipse">
            <a:avLst/>
          </a:prstGeom>
          <a:solidFill>
            <a:srgbClr val="EDA10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48640" y="2505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987552" y="2459736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포트폴리오 트리맵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987552" y="2761488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건수/MW/예산 3개 렌즈 전환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48640" y="3621024"/>
            <a:ext cx="310896" cy="310896"/>
          </a:xfrm>
          <a:prstGeom prst="ellipse">
            <a:avLst/>
          </a:prstGeom>
          <a:solidFill>
            <a:srgbClr val="EB6834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48640" y="36210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987552" y="357530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균형 진단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987552" y="3877056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전략:현업, 탐색 비중을 목표 대비 ✓/⚠로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48640" y="4736592"/>
            <a:ext cx="310896" cy="310896"/>
          </a:xfrm>
          <a:prstGeom prst="ellipse">
            <a:avLst/>
          </a:prstGeom>
          <a:solidFill>
            <a:srgbClr val="C53030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48640" y="47365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987552" y="4690872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Attention Needed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987552" y="4992624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지연·미실시·미활용 — 보는 화면을 일하는 화면으로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Demo ② 활동군 상세 (6종)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4124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활동군별 KPI → 차트 → 목록 3단 구조, 서브패널 6개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03784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106070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DA100"/>
          </a:solidFill>
          <a:ln/>
        </p:spPr>
      </p:sp>
      <p:sp>
        <p:nvSpPr>
          <p:cNvPr id="6" name="Shape 4"/>
          <p:cNvSpPr/>
          <p:nvPr/>
        </p:nvSpPr>
        <p:spPr>
          <a:xfrm>
            <a:off x="108356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B6834"/>
          </a:solidFill>
          <a:ln/>
        </p:spPr>
      </p:sp>
      <p:sp>
        <p:nvSpPr>
          <p:cNvPr id="7" name="Shape 5"/>
          <p:cNvSpPr/>
          <p:nvPr/>
        </p:nvSpPr>
        <p:spPr>
          <a:xfrm>
            <a:off x="110642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1BAF7A"/>
          </a:solidFill>
          <a:ln/>
        </p:spPr>
      </p:sp>
      <p:sp>
        <p:nvSpPr>
          <p:cNvPr id="8" name="Shape 6"/>
          <p:cNvSpPr/>
          <p:nvPr/>
        </p:nvSpPr>
        <p:spPr>
          <a:xfrm>
            <a:off x="112928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87BA4"/>
          </a:solidFill>
          <a:ln/>
        </p:spPr>
      </p:sp>
      <p:sp>
        <p:nvSpPr>
          <p:cNvPr id="9" name="Shape 7"/>
          <p:cNvSpPr/>
          <p:nvPr/>
        </p:nvSpPr>
        <p:spPr>
          <a:xfrm>
            <a:off x="115214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0083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65860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3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000" dirty="0"/>
          </a:p>
        </p:txBody>
      </p:sp>
      <p:pic>
        <p:nvPicPr>
          <p:cNvPr id="11" name="Image 0" descr="/tmp/claude-0/-home-user-Research-Platform/ea077501-df68-5619-bdf5-5c6934277d94/scratchpad/deckshots/act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1298448"/>
            <a:ext cx="7525512" cy="4233672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9AA4B2">
                <a:alpha val="35000"/>
              </a:srgbClr>
            </a:outerShdw>
          </a:effectLst>
        </p:spPr>
      </p:pic>
      <p:sp>
        <p:nvSpPr>
          <p:cNvPr id="12" name="Shape 9"/>
          <p:cNvSpPr/>
          <p:nvPr/>
        </p:nvSpPr>
        <p:spPr>
          <a:xfrm>
            <a:off x="548640" y="1389888"/>
            <a:ext cx="310896" cy="310896"/>
          </a:xfrm>
          <a:prstGeom prst="ellipse">
            <a:avLst/>
          </a:prstGeom>
          <a:solidFill>
            <a:srgbClr val="EB683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48640" y="1389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987552" y="1344168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현업지원 SLA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987552" y="164592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완료율 75% · 평균 리드타임 33일 · 지연 59건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48640" y="2505456"/>
            <a:ext cx="310896" cy="31089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48640" y="2505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987552" y="2459736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vs 완료 추이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987552" y="2761488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백로그 증감을 월별로 추적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48640" y="3621024"/>
            <a:ext cx="310896" cy="310896"/>
          </a:xfrm>
          <a:prstGeom prst="ellipse">
            <a:avLst/>
          </a:prstGeom>
          <a:solidFill>
            <a:srgbClr val="EDA100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48640" y="36210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987552" y="357530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대응부서 분석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987552" y="3877056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건수·리드타임으로 병목 부서 식별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48640" y="4736592"/>
            <a:ext cx="310896" cy="310896"/>
          </a:xfrm>
          <a:prstGeom prst="ellipse">
            <a:avLst/>
          </a:prstGeom>
          <a:solidFill>
            <a:srgbClr val="5B647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48640" y="47365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987552" y="4690872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원문 드릴다운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987552" y="4992624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집계는 근거 목록까지 3클릭 이내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114800" y="5650992"/>
            <a:ext cx="7525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B93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전략·장기성과·탐색·지식자산·조직역량 패널 동일 구조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Demo ③ Man Week 분석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4124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“연구원의 시간이 어디에 쓰이는가” — 조직×월 히트맵과 개인 부하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03784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106070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DA100"/>
          </a:solidFill>
          <a:ln/>
        </p:spPr>
      </p:sp>
      <p:sp>
        <p:nvSpPr>
          <p:cNvPr id="6" name="Shape 4"/>
          <p:cNvSpPr/>
          <p:nvPr/>
        </p:nvSpPr>
        <p:spPr>
          <a:xfrm>
            <a:off x="108356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B6834"/>
          </a:solidFill>
          <a:ln/>
        </p:spPr>
      </p:sp>
      <p:sp>
        <p:nvSpPr>
          <p:cNvPr id="7" name="Shape 5"/>
          <p:cNvSpPr/>
          <p:nvPr/>
        </p:nvSpPr>
        <p:spPr>
          <a:xfrm>
            <a:off x="110642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1BAF7A"/>
          </a:solidFill>
          <a:ln/>
        </p:spPr>
      </p:sp>
      <p:sp>
        <p:nvSpPr>
          <p:cNvPr id="8" name="Shape 6"/>
          <p:cNvSpPr/>
          <p:nvPr/>
        </p:nvSpPr>
        <p:spPr>
          <a:xfrm>
            <a:off x="112928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87BA4"/>
          </a:solidFill>
          <a:ln/>
        </p:spPr>
      </p:sp>
      <p:sp>
        <p:nvSpPr>
          <p:cNvPr id="9" name="Shape 7"/>
          <p:cNvSpPr/>
          <p:nvPr/>
        </p:nvSpPr>
        <p:spPr>
          <a:xfrm>
            <a:off x="115214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0083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65860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3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000" dirty="0"/>
          </a:p>
        </p:txBody>
      </p:sp>
      <p:pic>
        <p:nvPicPr>
          <p:cNvPr id="11" name="Image 0" descr="/tmp/claude-0/-home-user-Research-Platform/ea077501-df68-5619-bdf5-5c6934277d94/scratchpad/deckshots/m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1298448"/>
            <a:ext cx="7525512" cy="4233672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9AA4B2">
                <a:alpha val="35000"/>
              </a:srgbClr>
            </a:outerShdw>
          </a:effectLst>
        </p:spPr>
      </p:pic>
      <p:sp>
        <p:nvSpPr>
          <p:cNvPr id="12" name="Shape 9"/>
          <p:cNvSpPr/>
          <p:nvPr/>
        </p:nvSpPr>
        <p:spPr>
          <a:xfrm>
            <a:off x="548640" y="1389888"/>
            <a:ext cx="310896" cy="31089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48640" y="1389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987552" y="1344168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조직별 MW × 활동군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987552" y="164592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연구소별 투입 구조 비교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48640" y="2505456"/>
            <a:ext cx="310896" cy="310896"/>
          </a:xfrm>
          <a:prstGeom prst="ellipse">
            <a:avLst/>
          </a:prstGeom>
          <a:solidFill>
            <a:srgbClr val="EDA10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48640" y="2505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987552" y="2459736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조직×월 Heatmap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987552" y="2761488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과부하·유휴 구간을 색으로 즉시 식별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48640" y="3621024"/>
            <a:ext cx="310896" cy="310896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48640" y="36210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987552" y="357530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Utilization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987552" y="3877056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부하율 판정(과부하/적정/저부하)과 검색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장기성과 추적 모델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4124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완료평가는 끝이 아니라 시작 — 매년 활용평가로 실현을 검증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03784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106070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DA100"/>
          </a:solidFill>
          <a:ln/>
        </p:spPr>
      </p:sp>
      <p:sp>
        <p:nvSpPr>
          <p:cNvPr id="6" name="Shape 4"/>
          <p:cNvSpPr/>
          <p:nvPr/>
        </p:nvSpPr>
        <p:spPr>
          <a:xfrm>
            <a:off x="108356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B6834"/>
          </a:solidFill>
          <a:ln/>
        </p:spPr>
      </p:sp>
      <p:sp>
        <p:nvSpPr>
          <p:cNvPr id="7" name="Shape 5"/>
          <p:cNvSpPr/>
          <p:nvPr/>
        </p:nvSpPr>
        <p:spPr>
          <a:xfrm>
            <a:off x="110642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1BAF7A"/>
          </a:solidFill>
          <a:ln/>
        </p:spPr>
      </p:sp>
      <p:sp>
        <p:nvSpPr>
          <p:cNvPr id="8" name="Shape 6"/>
          <p:cNvSpPr/>
          <p:nvPr/>
        </p:nvSpPr>
        <p:spPr>
          <a:xfrm>
            <a:off x="112928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87BA4"/>
          </a:solidFill>
          <a:ln/>
        </p:spPr>
      </p:sp>
      <p:sp>
        <p:nvSpPr>
          <p:cNvPr id="9" name="Shape 7"/>
          <p:cNvSpPr/>
          <p:nvPr/>
        </p:nvSpPr>
        <p:spPr>
          <a:xfrm>
            <a:off x="115214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0083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65860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3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1737360"/>
            <a:ext cx="1920240" cy="1051560"/>
          </a:xfrm>
          <a:prstGeom prst="roundRect">
            <a:avLst>
              <a:gd name="adj" fmla="val 6957"/>
            </a:avLst>
          </a:prstGeom>
          <a:solidFill>
            <a:srgbClr val="16213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188366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완료평가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249424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기대성과 확정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834640" y="1737360"/>
            <a:ext cx="1572768" cy="1051560"/>
          </a:xfrm>
          <a:prstGeom prst="roundRect">
            <a:avLst>
              <a:gd name="adj" fmla="val 6957"/>
            </a:avLst>
          </a:prstGeom>
          <a:solidFill>
            <a:srgbClr val="F0F5FC"/>
          </a:solidFill>
          <a:ln w="19050">
            <a:solidFill>
              <a:srgbClr val="EDA1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834640" y="1883664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1년차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2834640" y="2249424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활용평가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2532888" y="2084832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63440" y="1737360"/>
            <a:ext cx="1572768" cy="1051560"/>
          </a:xfrm>
          <a:prstGeom prst="roundRect">
            <a:avLst>
              <a:gd name="adj" fmla="val 6957"/>
            </a:avLst>
          </a:prstGeom>
          <a:solidFill>
            <a:srgbClr val="F0F5FC"/>
          </a:solidFill>
          <a:ln w="19050">
            <a:solidFill>
              <a:srgbClr val="EDA10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63440" y="1883664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2년차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4663440" y="2249424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활용평가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4361688" y="2084832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92240" y="1737360"/>
            <a:ext cx="1572768" cy="1051560"/>
          </a:xfrm>
          <a:prstGeom prst="roundRect">
            <a:avLst>
              <a:gd name="adj" fmla="val 6957"/>
            </a:avLst>
          </a:prstGeom>
          <a:solidFill>
            <a:srgbClr val="F0F5FC"/>
          </a:solidFill>
          <a:ln w="19050">
            <a:solidFill>
              <a:srgbClr val="EDA10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92240" y="1883664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3년차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6492240" y="2249424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활용평가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190488" y="2084832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321040" y="1737360"/>
            <a:ext cx="1572768" cy="1051560"/>
          </a:xfrm>
          <a:prstGeom prst="roundRect">
            <a:avLst>
              <a:gd name="adj" fmla="val 6957"/>
            </a:avLst>
          </a:prstGeom>
          <a:solidFill>
            <a:srgbClr val="F0F5FC"/>
          </a:solidFill>
          <a:ln w="19050">
            <a:solidFill>
              <a:srgbClr val="EDA10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321040" y="1883664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4년차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2249424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활용평가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8019288" y="2084832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0149840" y="1737360"/>
            <a:ext cx="1572768" cy="1051560"/>
          </a:xfrm>
          <a:prstGeom prst="roundRect">
            <a:avLst>
              <a:gd name="adj" fmla="val 6957"/>
            </a:avLst>
          </a:prstGeom>
          <a:solidFill>
            <a:srgbClr val="F0F5FC"/>
          </a:solidFill>
          <a:ln w="19050">
            <a:solidFill>
              <a:srgbClr val="EDA10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149840" y="1883664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5년차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0" y="2249424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활용평가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9848088" y="2084832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48640" y="3429000"/>
            <a:ext cx="5440680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49808" y="3648456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EDA10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097280" y="357530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활용상태</a:t>
            </a:r>
            <a:endParaRPr lang="en-US" sz="1350" dirty="0"/>
          </a:p>
        </p:txBody>
      </p:sp>
      <p:sp>
        <p:nvSpPr>
          <p:cNvPr id="37" name="Text 35"/>
          <p:cNvSpPr txBox="1"/>
          <p:nvPr/>
        </p:nvSpPr>
        <p:spPr>
          <a:xfrm>
            <a:off x="1097280" y="395935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활용중 / 부분활용 / 미활용 + 미활용 사유코드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263640" y="3429000"/>
            <a:ext cx="5440680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64808" y="3648456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1BAF7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812280" y="357530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실현성과 6축</a:t>
            </a:r>
            <a:endParaRPr lang="en-US" sz="1350" dirty="0"/>
          </a:p>
        </p:txBody>
      </p:sp>
      <p:sp>
        <p:nvSpPr>
          <p:cNvPr id="41" name="Text 39"/>
          <p:cNvSpPr txBox="1"/>
          <p:nvPr/>
        </p:nvSpPr>
        <p:spPr>
          <a:xfrm>
            <a:off x="6812280" y="395935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매출 · 원가절감 · 생산성 · 품질 · 안전 · 환경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548640" y="4754880"/>
            <a:ext cx="5440680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9808" y="4974336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2A78D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1097280" y="490118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Achievement %</a:t>
            </a:r>
            <a:endParaRPr lang="en-US" sz="1350" dirty="0"/>
          </a:p>
        </p:txBody>
      </p:sp>
      <p:sp>
        <p:nvSpPr>
          <p:cNvPr id="45" name="Text 43"/>
          <p:cNvSpPr txBox="1"/>
          <p:nvPr/>
        </p:nvSpPr>
        <p:spPr>
          <a:xfrm>
            <a:off x="1097280" y="52852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누적 실현이익 ÷ (년간기대이익 × 경과년)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6263640" y="4754880"/>
            <a:ext cx="5440680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464808" y="4974336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EB6834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812280" y="490118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3자 검증</a:t>
            </a:r>
            <a:endParaRPr lang="en-US" sz="1350" dirty="0"/>
          </a:p>
        </p:txBody>
      </p:sp>
      <p:sp>
        <p:nvSpPr>
          <p:cNvPr id="49" name="Text 47"/>
          <p:cNvSpPr txBox="1"/>
          <p:nvPr/>
        </p:nvSpPr>
        <p:spPr>
          <a:xfrm>
            <a:off x="6812280" y="52852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활용부서 입력·승인 → 성과검증 부서 확정 → 검증상태 배지</a:t>
            </a:r>
            <a:endParaRPr lang="en-US" sz="115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6172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B93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Demo에서는 활용평가 실적을 시드 고정 시뮬레이션으로 생성 (DEMO 배지) — 실운영 시 PRIDE 활용평가 모듈 데이터로 교체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Demo ④ 장기성과 대시보드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4124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활동군 상세 &gt; 장기 성과관리·확산에서 바로 열림 (단일 진입점) — 연차별 활용률 · BEP · 미활용 분석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03784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106070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DA100"/>
          </a:solidFill>
          <a:ln/>
        </p:spPr>
      </p:sp>
      <p:sp>
        <p:nvSpPr>
          <p:cNvPr id="6" name="Shape 4"/>
          <p:cNvSpPr/>
          <p:nvPr/>
        </p:nvSpPr>
        <p:spPr>
          <a:xfrm>
            <a:off x="108356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B6834"/>
          </a:solidFill>
          <a:ln/>
        </p:spPr>
      </p:sp>
      <p:sp>
        <p:nvSpPr>
          <p:cNvPr id="7" name="Shape 5"/>
          <p:cNvSpPr/>
          <p:nvPr/>
        </p:nvSpPr>
        <p:spPr>
          <a:xfrm>
            <a:off x="110642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1BAF7A"/>
          </a:solidFill>
          <a:ln/>
        </p:spPr>
      </p:sp>
      <p:sp>
        <p:nvSpPr>
          <p:cNvPr id="8" name="Shape 6"/>
          <p:cNvSpPr/>
          <p:nvPr/>
        </p:nvSpPr>
        <p:spPr>
          <a:xfrm>
            <a:off x="112928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87BA4"/>
          </a:solidFill>
          <a:ln/>
        </p:spPr>
      </p:sp>
      <p:sp>
        <p:nvSpPr>
          <p:cNvPr id="9" name="Shape 7"/>
          <p:cNvSpPr/>
          <p:nvPr/>
        </p:nvSpPr>
        <p:spPr>
          <a:xfrm>
            <a:off x="115214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0083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65860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3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000" dirty="0"/>
          </a:p>
        </p:txBody>
      </p:sp>
      <p:pic>
        <p:nvPicPr>
          <p:cNvPr id="11" name="Image 0" descr="/tmp/claude-0/-home-user-Research-Platform/ea077501-df68-5619-bdf5-5c6934277d94/scratchpad/deckshots/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1298448"/>
            <a:ext cx="7525512" cy="4233672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9AA4B2">
                <a:alpha val="35000"/>
              </a:srgbClr>
            </a:outerShdw>
          </a:effectLst>
        </p:spPr>
      </p:pic>
      <p:sp>
        <p:nvSpPr>
          <p:cNvPr id="12" name="Shape 9"/>
          <p:cNvSpPr/>
          <p:nvPr/>
        </p:nvSpPr>
        <p:spPr>
          <a:xfrm>
            <a:off x="548640" y="1389888"/>
            <a:ext cx="310896" cy="310896"/>
          </a:xfrm>
          <a:prstGeom prst="ellipse">
            <a:avLst/>
          </a:prstGeom>
          <a:solidFill>
            <a:srgbClr val="EDA10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48640" y="1389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987552" y="1344168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연차별 활용률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987552" y="164592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1→3년차 58%→40%, 급락 연차 = 개입 시점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48640" y="2505456"/>
            <a:ext cx="310896" cy="310896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48640" y="2505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987552" y="2459736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BEP 곡선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987552" y="2761488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누적 실현이익이 누적 연구비를 넘는 시점 가시화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48640" y="3621024"/>
            <a:ext cx="310896" cy="310896"/>
          </a:xfrm>
          <a:prstGeom prst="ellipse">
            <a:avLst/>
          </a:prstGeom>
          <a:solidFill>
            <a:srgbClr val="C53030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48640" y="36210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987552" y="357530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미활용 파레토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987552" y="3877056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사유별 비중 + 매몰비용 → Revival 심의 근거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48640" y="4736592"/>
            <a:ext cx="310896" cy="31089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48640" y="47365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987552" y="4690872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Top/Bottom 10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987552" y="4992624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성공·실패요인 리뷰 회의의 표준 자료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Demo ⑤ Executive One-Page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4124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스크롤 없는 임원 화면 — 얼마 썼나 / 뭐가 돌아왔나 / 어디가 위험한가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03784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106070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DA100"/>
          </a:solidFill>
          <a:ln/>
        </p:spPr>
      </p:sp>
      <p:sp>
        <p:nvSpPr>
          <p:cNvPr id="6" name="Shape 4"/>
          <p:cNvSpPr/>
          <p:nvPr/>
        </p:nvSpPr>
        <p:spPr>
          <a:xfrm>
            <a:off x="108356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B6834"/>
          </a:solidFill>
          <a:ln/>
        </p:spPr>
      </p:sp>
      <p:sp>
        <p:nvSpPr>
          <p:cNvPr id="7" name="Shape 5"/>
          <p:cNvSpPr/>
          <p:nvPr/>
        </p:nvSpPr>
        <p:spPr>
          <a:xfrm>
            <a:off x="110642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1BAF7A"/>
          </a:solidFill>
          <a:ln/>
        </p:spPr>
      </p:sp>
      <p:sp>
        <p:nvSpPr>
          <p:cNvPr id="8" name="Shape 6"/>
          <p:cNvSpPr/>
          <p:nvPr/>
        </p:nvSpPr>
        <p:spPr>
          <a:xfrm>
            <a:off x="112928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87BA4"/>
          </a:solidFill>
          <a:ln/>
        </p:spPr>
      </p:sp>
      <p:sp>
        <p:nvSpPr>
          <p:cNvPr id="9" name="Shape 7"/>
          <p:cNvSpPr/>
          <p:nvPr/>
        </p:nvSpPr>
        <p:spPr>
          <a:xfrm>
            <a:off x="115214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0083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65860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3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000" dirty="0"/>
          </a:p>
        </p:txBody>
      </p:sp>
      <p:pic>
        <p:nvPicPr>
          <p:cNvPr id="11" name="Image 0" descr="/tmp/claude-0/-home-user-Research-Platform/ea077501-df68-5619-bdf5-5c6934277d94/scratchpad/deckshots/ex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1298448"/>
            <a:ext cx="7525512" cy="4233672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9AA4B2">
                <a:alpha val="35000"/>
              </a:srgbClr>
            </a:outerShdw>
          </a:effectLst>
        </p:spPr>
      </p:pic>
      <p:sp>
        <p:nvSpPr>
          <p:cNvPr id="12" name="Shape 9"/>
          <p:cNvSpPr/>
          <p:nvPr/>
        </p:nvSpPr>
        <p:spPr>
          <a:xfrm>
            <a:off x="548640" y="1389888"/>
            <a:ext cx="310896" cy="31089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48640" y="1389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987552" y="1344168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R&amp;D Value Flow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987552" y="164592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연구비→활동군→완료→활용→실현이익 Sankey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48640" y="2505456"/>
            <a:ext cx="310896" cy="310896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48640" y="2505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987552" y="2459736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Top 5 Value Creators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987552" y="2761488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투자효율 상위 과제와 활용부서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48640" y="3621024"/>
            <a:ext cx="310896" cy="310896"/>
          </a:xfrm>
          <a:prstGeom prst="ellipse">
            <a:avLst/>
          </a:prstGeom>
          <a:solidFill>
            <a:srgbClr val="C53030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48640" y="36210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987552" y="357530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Executive Alerts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987552" y="3877056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미활용 매몰·탐색 미달·평가 미실시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48640" y="4736592"/>
            <a:ext cx="310896" cy="310896"/>
          </a:xfrm>
          <a:prstGeom prst="ellipse">
            <a:avLst/>
          </a:prstGeom>
          <a:solidFill>
            <a:srgbClr val="EDA100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48640" y="47365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987552" y="4690872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한 줄 브리핑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987552" y="4992624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임계값 기반 서술 — 추후 LLM 요약으로 고도화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Demo ⑥ 신규 과제 투입 시뮬레이터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4124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 과제를 받으면 누가 과부하가 되는가”를 수주 전에 답한다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03784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106070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DA100"/>
          </a:solidFill>
          <a:ln/>
        </p:spPr>
      </p:sp>
      <p:sp>
        <p:nvSpPr>
          <p:cNvPr id="6" name="Shape 4"/>
          <p:cNvSpPr/>
          <p:nvPr/>
        </p:nvSpPr>
        <p:spPr>
          <a:xfrm>
            <a:off x="108356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B6834"/>
          </a:solidFill>
          <a:ln/>
        </p:spPr>
      </p:sp>
      <p:sp>
        <p:nvSpPr>
          <p:cNvPr id="7" name="Shape 5"/>
          <p:cNvSpPr/>
          <p:nvPr/>
        </p:nvSpPr>
        <p:spPr>
          <a:xfrm>
            <a:off x="110642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1BAF7A"/>
          </a:solidFill>
          <a:ln/>
        </p:spPr>
      </p:sp>
      <p:sp>
        <p:nvSpPr>
          <p:cNvPr id="8" name="Shape 6"/>
          <p:cNvSpPr/>
          <p:nvPr/>
        </p:nvSpPr>
        <p:spPr>
          <a:xfrm>
            <a:off x="112928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87BA4"/>
          </a:solidFill>
          <a:ln/>
        </p:spPr>
      </p:sp>
      <p:sp>
        <p:nvSpPr>
          <p:cNvPr id="9" name="Shape 7"/>
          <p:cNvSpPr/>
          <p:nvPr/>
        </p:nvSpPr>
        <p:spPr>
          <a:xfrm>
            <a:off x="115214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0083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65860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3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000" dirty="0"/>
          </a:p>
        </p:txBody>
      </p:sp>
      <p:pic>
        <p:nvPicPr>
          <p:cNvPr id="11" name="Image 0" descr="/tmp/claude-0/-home-user-Research-Platform/ea077501-df68-5619-bdf5-5c6934277d94/scratchpad/deckshots/si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1298448"/>
            <a:ext cx="7525512" cy="4233672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9AA4B2">
                <a:alpha val="35000"/>
              </a:srgbClr>
            </a:outerShdw>
          </a:effectLst>
        </p:spPr>
      </p:pic>
      <p:sp>
        <p:nvSpPr>
          <p:cNvPr id="12" name="Shape 9"/>
          <p:cNvSpPr/>
          <p:nvPr/>
        </p:nvSpPr>
        <p:spPr>
          <a:xfrm>
            <a:off x="548640" y="1389888"/>
            <a:ext cx="310896" cy="31089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48640" y="1389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987552" y="1344168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조직 부하율 전→후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987552" y="164592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6개월 실적 기반, 적정 상한 90% 판정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48640" y="2505456"/>
            <a:ext cx="310896" cy="310896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48640" y="2505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987552" y="2459736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수용 가능 판정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987552" y="2761488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잔여 여력 vs 필요 MW 자동 비교 문장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48640" y="3621024"/>
            <a:ext cx="310896" cy="310896"/>
          </a:xfrm>
          <a:prstGeom prst="ellipse">
            <a:avLst/>
          </a:prstGeom>
          <a:solidFill>
            <a:srgbClr val="EDA100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48640" y="36210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987552" y="357530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배정 후보 추천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987552" y="3877056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여력 큰 연구원 15명 자동 목록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실운영 전환 — 다시 만들 것이 없다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4124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Demo에서 검증한 화면이 그대로 운영 화면이 된다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03784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106070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DA100"/>
          </a:solidFill>
          <a:ln/>
        </p:spPr>
      </p:sp>
      <p:sp>
        <p:nvSpPr>
          <p:cNvPr id="6" name="Shape 4"/>
          <p:cNvSpPr/>
          <p:nvPr/>
        </p:nvSpPr>
        <p:spPr>
          <a:xfrm>
            <a:off x="108356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B6834"/>
          </a:solidFill>
          <a:ln/>
        </p:spPr>
      </p:sp>
      <p:sp>
        <p:nvSpPr>
          <p:cNvPr id="7" name="Shape 5"/>
          <p:cNvSpPr/>
          <p:nvPr/>
        </p:nvSpPr>
        <p:spPr>
          <a:xfrm>
            <a:off x="110642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1BAF7A"/>
          </a:solidFill>
          <a:ln/>
        </p:spPr>
      </p:sp>
      <p:sp>
        <p:nvSpPr>
          <p:cNvPr id="8" name="Shape 6"/>
          <p:cNvSpPr/>
          <p:nvPr/>
        </p:nvSpPr>
        <p:spPr>
          <a:xfrm>
            <a:off x="112928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87BA4"/>
          </a:solidFill>
          <a:ln/>
        </p:spPr>
      </p:sp>
      <p:sp>
        <p:nvSpPr>
          <p:cNvPr id="9" name="Shape 7"/>
          <p:cNvSpPr/>
          <p:nvPr/>
        </p:nvSpPr>
        <p:spPr>
          <a:xfrm>
            <a:off x="11521440" y="4297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0083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65860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3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017520" y="148132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Demo (현재)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148132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4DA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실운영 (전환 후)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1874520"/>
            <a:ext cx="11091672" cy="841248"/>
          </a:xfrm>
          <a:prstGeom prst="roundRect">
            <a:avLst>
              <a:gd name="adj" fmla="val 6522"/>
            </a:avLst>
          </a:prstGeom>
          <a:solidFill>
            <a:srgbClr val="F0F5FC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211226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소스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3017520" y="2002536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CSV 6종 (a1~a6) → ETL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903720" y="2130552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223760" y="2002536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PRIDE Backend DB 직접 연동 — 화면·집계 인터페이스 불변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2862072"/>
            <a:ext cx="1109167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309981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활동군 분류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3017520" y="2990088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과제코드 W/N 규칙 + L코드(신사업) 탐색 간주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903720" y="3118104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223760" y="2990088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PRIDE 과제유형 코드 매핑 테이블로 대체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3849624"/>
            <a:ext cx="11091672" cy="841248"/>
          </a:xfrm>
          <a:prstGeom prst="roundRect">
            <a:avLst>
              <a:gd name="adj" fmla="val 6522"/>
            </a:avLst>
          </a:prstGeom>
          <a:solidFill>
            <a:srgbClr val="F0F5FC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408736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활용평가 실적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3017520" y="3977640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시드 고정 시뮬레이션 (DEMO 배지)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903720" y="41056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223760" y="3977640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활용평가 모듈 실데이터로 fact_utilization만 교체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48640" y="4837176"/>
            <a:ext cx="1109167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77240" y="5074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지식자산·조직역량 MW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3017520" y="4965192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건수 렌즈만 제공 (MW 미집계)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6903720" y="509320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7223760" y="4965192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근태·활동입력 연동으로 6개 군 전체 MW 통합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6035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시연: demo/index.html 브라우저로 열기 (백엔드·네트워크 불필요)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2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Roadmap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378440" y="6583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10607040" y="6583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DA100"/>
          </a:solidFill>
          <a:ln/>
        </p:spPr>
      </p:sp>
      <p:sp>
        <p:nvSpPr>
          <p:cNvPr id="5" name="Shape 3"/>
          <p:cNvSpPr/>
          <p:nvPr/>
        </p:nvSpPr>
        <p:spPr>
          <a:xfrm>
            <a:off x="10835640" y="6583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B6834"/>
          </a:solidFill>
          <a:ln/>
        </p:spPr>
      </p:sp>
      <p:sp>
        <p:nvSpPr>
          <p:cNvPr id="6" name="Shape 4"/>
          <p:cNvSpPr/>
          <p:nvPr/>
        </p:nvSpPr>
        <p:spPr>
          <a:xfrm>
            <a:off x="11064240" y="6583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1BAF7A"/>
          </a:solidFill>
          <a:ln/>
        </p:spPr>
      </p:sp>
      <p:sp>
        <p:nvSpPr>
          <p:cNvPr id="7" name="Shape 5"/>
          <p:cNvSpPr/>
          <p:nvPr/>
        </p:nvSpPr>
        <p:spPr>
          <a:xfrm>
            <a:off x="11292840" y="6583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87BA4"/>
          </a:solidFill>
          <a:ln/>
        </p:spPr>
      </p:sp>
      <p:sp>
        <p:nvSpPr>
          <p:cNvPr id="8" name="Shape 6"/>
          <p:cNvSpPr/>
          <p:nvPr/>
        </p:nvSpPr>
        <p:spPr>
          <a:xfrm>
            <a:off x="11521440" y="65836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008300"/>
          </a:solidFill>
          <a:ln/>
        </p:spPr>
      </p:sp>
      <p:sp>
        <p:nvSpPr>
          <p:cNvPr id="9" name="Shape 7"/>
          <p:cNvSpPr/>
          <p:nvPr/>
        </p:nvSpPr>
        <p:spPr>
          <a:xfrm>
            <a:off x="822960" y="1417320"/>
            <a:ext cx="3429000" cy="1828800"/>
          </a:xfrm>
          <a:prstGeom prst="roundRect">
            <a:avLst>
              <a:gd name="adj" fmla="val 4500"/>
            </a:avLst>
          </a:prstGeom>
          <a:solidFill>
            <a:srgbClr val="1F2B4A"/>
          </a:solidFill>
          <a:ln w="19050">
            <a:solidFill>
              <a:srgbClr val="1BAF7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164592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A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Phase 1 · 완료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12140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종합현황 · MW 분석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장기성과 · Executive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26280" y="1417320"/>
            <a:ext cx="3429000" cy="1828800"/>
          </a:xfrm>
          <a:prstGeom prst="roundRect">
            <a:avLst>
              <a:gd name="adj" fmla="val 4500"/>
            </a:avLst>
          </a:prstGeom>
          <a:solidFill>
            <a:srgbClr val="1F2B4A"/>
          </a:solidFill>
          <a:ln w="19050">
            <a:solidFill>
              <a:srgbClr val="1BAF7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00600" y="164592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A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Phase 2 · 완료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212140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활동군 상세 6종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투입 시뮬레이터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0" y="1417320"/>
            <a:ext cx="3429000" cy="1828800"/>
          </a:xfrm>
          <a:prstGeom prst="roundRect">
            <a:avLst>
              <a:gd name="adj" fmla="val 4500"/>
            </a:avLst>
          </a:prstGeom>
          <a:solidFill>
            <a:srgbClr val="1F2B4A"/>
          </a:solidFill>
          <a:ln w="19050">
            <a:solidFill>
              <a:srgbClr val="EDA10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503920" y="164592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A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Phase 3 · 제안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503920" y="212140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PRIDE DB 연동 · My Dashboard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활용평가 캘린더·알림 · 역할 프리셋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39776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b="1" i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 대시보드는 연구를 얼마나 했는가가 아니라,</a:t>
            </a:r>
            <a:endParaRPr lang="en-US" sz="2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200" b="1" i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연구가 회사를 얼마나 바꿨는가를 보여준다.”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2578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3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그것이 6개 활동군 체계로 제도를 개편한 이유 그 자체입니다.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6035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PR: github.com/syhwb87-sudo/Research-Platform/pull/1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2026-09-01T02:23:14Z</dcterms:created>
  <dcterms:modified xsi:type="dcterms:W3CDTF">2026-09-01T02:23:14Z</dcterms:modified>
</cp:coreProperties>
</file>